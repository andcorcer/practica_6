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embeddedFontLst>
    <p:embeddedFont>
      <p:font typeface="JetBrains Mono" panose="020B0604020202020204" charset="0"/>
      <p:regular r:id="rId14"/>
      <p:bold r:id="rId15"/>
      <p:italic r:id="rId16"/>
      <p:boldItalic r:id="rId17"/>
    </p:embeddedFont>
    <p:embeddedFont>
      <p:font typeface="Plus Jakarta Sans" panose="020B060402020202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hib Umer" initials="MU" lastIdx="1" clrIdx="0">
    <p:extLst>
      <p:ext uri="{19B8F6BF-5375-455C-9EA6-DF929625EA0E}">
        <p15:presenceInfo xmlns:p15="http://schemas.microsoft.com/office/powerpoint/2012/main" userId="6e127637b6ae7b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16FF6-C3D0-49BF-A98E-BD14642FDD57}" type="datetimeFigureOut">
              <a:rPr lang="es-MX" smtClean="0"/>
              <a:t>28/09/2026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E3A05-55C8-4107-B7C8-572AF2E5FB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820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EE3A05-55C8-4107-B7C8-572AF2E5FB93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2945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3981896"/>
            <a:ext cx="9334500" cy="9525"/>
          </a:xfrm>
          <a:prstGeom prst="rect">
            <a:avLst/>
          </a:prstGeom>
          <a:solidFill>
            <a:srgbClr val="277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104578"/>
            <a:ext cx="1480393" cy="276225"/>
          </a:xfrm>
          <a:prstGeom prst="roundRect">
            <a:avLst>
              <a:gd name="adj" fmla="val 27586"/>
            </a:avLst>
          </a:prstGeom>
          <a:solidFill>
            <a:srgbClr val="112F46"/>
          </a:solidFill>
          <a:ln w="9525">
            <a:solidFill>
              <a:srgbClr val="1D4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56693" y="2104578"/>
            <a:ext cx="2562373" cy="276225"/>
          </a:xfrm>
          <a:prstGeom prst="roundRect">
            <a:avLst>
              <a:gd name="adj" fmla="val 27586"/>
            </a:avLst>
          </a:prstGeom>
          <a:solidFill>
            <a:srgbClr val="292348"/>
          </a:solidFill>
          <a:ln w="9525">
            <a:solidFill>
              <a:srgbClr val="46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2185541"/>
            <a:ext cx="148679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568" y="2185541"/>
            <a:ext cx="148679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4334321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334321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400" y="4334321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0612" y="4448621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12" y="4448621"/>
            <a:ext cx="2190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7887" y="4448621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2609403"/>
            <a:ext cx="11430000" cy="591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FFFFF"/>
                </a:solidFill>
                <a:latin typeface="Plus Jakarta Sans"/>
              </a:rPr>
              <a:t>Simulador de Sistema Hospitalario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353246"/>
            <a:ext cx="11430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Plus Jakarta Sans"/>
              </a:rPr>
              <a:t>Proyecto integrador — Etapa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229" y="2161728"/>
            <a:ext cx="1084064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Plus Jakarta Sans"/>
              </a:rPr>
              <a:t>POO · GRUPO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4922" y="2161728"/>
            <a:ext cx="2166044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C084FC"/>
                </a:solidFill>
                <a:latin typeface="Plus Jakarta Sans"/>
              </a:rPr>
              <a:t>FACULTAD DE INGENIERÍA · UNAM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334321"/>
            <a:ext cx="2119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EQUIPO DE DESARROLLO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534346"/>
            <a:ext cx="2119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Presenta: Equipo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8450" y="4334321"/>
            <a:ext cx="2714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ENTREGA ACADÉMICA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8450" y="4534346"/>
            <a:ext cx="2714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28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230635"/>
            <a:ext cx="5429250" cy="2867025"/>
          </a:xfrm>
          <a:prstGeom prst="roundRect">
            <a:avLst>
              <a:gd name="adj" fmla="val 531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230635"/>
            <a:ext cx="5429250" cy="2867025"/>
          </a:xfrm>
          <a:prstGeom prst="roundRect">
            <a:avLst>
              <a:gd name="adj" fmla="val 531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7725" y="4411860"/>
            <a:ext cx="48006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43675" y="4411860"/>
            <a:ext cx="48006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7725" y="4411860"/>
            <a:ext cx="48006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43675" y="4411860"/>
            <a:ext cx="48006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583060"/>
            <a:ext cx="495300" cy="495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2583060"/>
            <a:ext cx="495300" cy="495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725935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75" y="2725935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CONTEXTO DEL PROYECTO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Planteamiento del problema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2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554610"/>
            <a:ext cx="4895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Plus Jakarta Sans"/>
              </a:rPr>
              <a:t>Se necesita un sistema que simule, de forma sencilla, cómo se organiza la atención dentro de un hospital.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3675" y="3554610"/>
            <a:ext cx="4895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Plus Jakarta Sans"/>
              </a:rPr>
              <a:t>Debe reflejar quién registra al personal, cómo llegan los pacientes y cómo se les da seguimiento hasta que son atendidos.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102048"/>
            <a:ext cx="5429250" cy="3124200"/>
          </a:xfrm>
          <a:prstGeom prst="roundRect">
            <a:avLst>
              <a:gd name="adj" fmla="val 4878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102048"/>
            <a:ext cx="5429250" cy="3124200"/>
          </a:xfrm>
          <a:prstGeom prst="roundRect">
            <a:avLst>
              <a:gd name="adj" fmla="val 4878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7725" y="4473773"/>
            <a:ext cx="28575" cy="400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43675" y="4473773"/>
            <a:ext cx="28575" cy="4000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454473"/>
            <a:ext cx="495300" cy="495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2454473"/>
            <a:ext cx="495300" cy="495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12" y="2597348"/>
            <a:ext cx="23812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75" y="2597348"/>
            <a:ext cx="26670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PROPÓSITO ACADÉMICO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Objetivo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3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178373"/>
            <a:ext cx="6000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APLICACIÓN PRÁCTICA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426023"/>
            <a:ext cx="4895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Plus Jakarta Sans"/>
              </a:rPr>
              <a:t>Aplicar los conceptos de Programación Orientada a Objetos construyendo un modelo funcional de un hospital.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3178373"/>
            <a:ext cx="56483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Plus Jakarta Sans"/>
              </a:rPr>
              <a:t>RELACIONES Y REGLAS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675" y="3426023"/>
            <a:ext cx="4895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Plus Jakarta Sans"/>
              </a:rPr>
              <a:t>Definir sus clases, cómo se relacionan entre sí, y las reglas que deben respetar al asignar y atender pacientes.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9725" y="2578298"/>
            <a:ext cx="514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JetBrains Mono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15675" y="2578298"/>
            <a:ext cx="514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378273"/>
            <a:ext cx="2638425" cy="257175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62325" y="2378273"/>
            <a:ext cx="2638425" cy="257175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378273"/>
            <a:ext cx="2638425" cy="257175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20175" y="2378273"/>
            <a:ext cx="2638425" cy="257175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2475" y="4388048"/>
            <a:ext cx="22002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1400" y="4388048"/>
            <a:ext cx="22002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10325" y="4388048"/>
            <a:ext cx="22002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39250" y="4388048"/>
            <a:ext cx="22002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654498"/>
            <a:ext cx="41910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2654498"/>
            <a:ext cx="419100" cy="419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2654498"/>
            <a:ext cx="419100" cy="419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0" y="2654498"/>
            <a:ext cx="419100" cy="419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778323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0" y="2778323"/>
            <a:ext cx="15240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2778323"/>
            <a:ext cx="15240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9262" y="2778323"/>
            <a:ext cx="219075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ARQUITECTURA DE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Desarrollo: las 4 clases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4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4521398"/>
            <a:ext cx="2295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Plus Jakarta Sans"/>
              </a:rPr>
              <a:t>CONTROLADOR GENERAL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1400" y="4521398"/>
            <a:ext cx="2295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C084FC"/>
                </a:solidFill>
                <a:latin typeface="Plus Jakarta Sans"/>
              </a:rPr>
              <a:t>PERSONAL MÉDICO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0325" y="4521398"/>
            <a:ext cx="2295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Plus Jakarta Sans"/>
              </a:rPr>
              <a:t>PERSONAL DE SOPORTE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0" y="4521398"/>
            <a:ext cx="2295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B923C"/>
                </a:solidFill>
                <a:latin typeface="Plus Jakarta Sans"/>
              </a:rPr>
              <a:t>ENTIDAD RECEPTORA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64748B"/>
                </a:solidFill>
                <a:latin typeface="Plus Jakarta Sans"/>
              </a:rPr>
              <a:t>Sistema </a:t>
            </a:r>
            <a:r>
              <a:rPr sz="975" b="1" i="0" u="none" dirty="0" err="1">
                <a:solidFill>
                  <a:srgbClr val="64748B"/>
                </a:solidFill>
                <a:latin typeface="Plus Jakarta Sans"/>
              </a:rPr>
              <a:t>Hospitalario</a:t>
            </a:r>
            <a:r>
              <a:rPr sz="975" b="1" i="0" u="none" dirty="0">
                <a:solidFill>
                  <a:srgbClr val="64748B"/>
                </a:solidFill>
                <a:latin typeface="Plus Jakarta Sans"/>
              </a:rPr>
              <a:t> · Etapa 1 · POO Grupo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3264098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Sistema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75" y="3597473"/>
            <a:ext cx="22955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Centraliza el registro de todo el hospital.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3264098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Médico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1400" y="3597473"/>
            <a:ext cx="22955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Atiende pacientes de su especialidad.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0325" y="3264098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Enfermero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0325" y="3597473"/>
            <a:ext cx="22955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Da tratamiento a los pacientes asignados.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9250" y="3264098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Paciente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9250" y="3597473"/>
            <a:ext cx="22955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Guarda sus datos y su estado de atención.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2754510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JetBrains Mono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2125" y="2754510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084FC"/>
                </a:solidFill>
                <a:latin typeface="JetBrains Mono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1050" y="2754510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JetBrains Mono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29975" y="2754510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B923C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06729" y="1489620"/>
            <a:ext cx="5451871" cy="4368254"/>
          </a:xfrm>
          <a:prstGeom prst="roundRect">
            <a:avLst>
              <a:gd name="adj" fmla="val 3488"/>
            </a:avLst>
          </a:prstGeom>
          <a:solidFill>
            <a:srgbClr val="0D1322"/>
          </a:solidFill>
          <a:ln w="19050">
            <a:solidFill>
              <a:srgbClr val="19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480095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2659856"/>
            <a:ext cx="5368528" cy="647700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4020591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5200352"/>
            <a:ext cx="5368528" cy="647700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19372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14800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1480095"/>
            <a:ext cx="38100" cy="4667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2403" y="1480095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3298031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265985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2659856"/>
            <a:ext cx="3810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2403" y="2659856"/>
            <a:ext cx="9525" cy="647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4477791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020591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4020591"/>
            <a:ext cx="38100" cy="4667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2403" y="4020591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5838527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5200352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3400" y="5200352"/>
            <a:ext cx="3810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92403" y="5200352"/>
            <a:ext cx="9525" cy="647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3400" y="419100"/>
            <a:ext cx="32060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975" b="1" dirty="0">
                <a:solidFill>
                  <a:srgbClr val="38BDF8"/>
                </a:solidFill>
                <a:latin typeface="Plus Jakarta Sans"/>
              </a:rPr>
              <a:t>Clases</a:t>
            </a:r>
            <a:endParaRPr sz="975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Clase Sistema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1051470"/>
            <a:ext cx="11658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Gestor central de registros, conteos y asignaciones automáticas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5 /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162297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Es el controlador general del hospital.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2802731"/>
            <a:ext cx="507325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Guarda el nombre del hospital y cuenta cuántos médicos, enfermeros y pacientes hay registrados.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163466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Registra a cada médico, enfermero y paciente que entra al sistema.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5343227"/>
            <a:ext cx="507325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Decide a quién se asigna cada paciente: si la especialidad coincide con un médico o un enfermero disponible.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62EDDD0-4250-1FE9-1F76-48450D9B1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978" y="1630631"/>
            <a:ext cx="4543128" cy="40671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06728" y="1480095"/>
            <a:ext cx="5451871" cy="4368254"/>
          </a:xfrm>
          <a:prstGeom prst="roundRect">
            <a:avLst>
              <a:gd name="adj" fmla="val 3488"/>
            </a:avLst>
          </a:prstGeom>
          <a:solidFill>
            <a:srgbClr val="0D1322"/>
          </a:solidFill>
          <a:ln w="19050">
            <a:solidFill>
              <a:srgbClr val="4127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480095"/>
            <a:ext cx="5368528" cy="428625"/>
          </a:xfrm>
          <a:prstGeom prst="roundRect">
            <a:avLst>
              <a:gd name="adj" fmla="val 1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2419647"/>
            <a:ext cx="5368528" cy="6096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3540174"/>
            <a:ext cx="5368528" cy="428625"/>
          </a:xfrm>
          <a:prstGeom prst="roundRect">
            <a:avLst>
              <a:gd name="adj" fmla="val 1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4479726"/>
            <a:ext cx="5368528" cy="428625"/>
          </a:xfrm>
          <a:prstGeom prst="roundRect">
            <a:avLst>
              <a:gd name="adj" fmla="val 1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400" y="5419278"/>
            <a:ext cx="5368528" cy="428625"/>
          </a:xfrm>
          <a:prstGeom prst="roundRect">
            <a:avLst>
              <a:gd name="adj" fmla="val 1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18991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14800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1480095"/>
            <a:ext cx="38100" cy="428625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92403" y="1480095"/>
            <a:ext cx="9525" cy="4286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019722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2419647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2419647"/>
            <a:ext cx="38100" cy="60960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2403" y="2419647"/>
            <a:ext cx="9525" cy="609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3959274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3540174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3540174"/>
            <a:ext cx="38100" cy="428625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92403" y="3540174"/>
            <a:ext cx="9525" cy="4286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489882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3400" y="447972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3400" y="4479726"/>
            <a:ext cx="38100" cy="428625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92403" y="4479726"/>
            <a:ext cx="9525" cy="4286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3400" y="5838378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3400" y="5419278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3400" y="5419278"/>
            <a:ext cx="38100" cy="428625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2403" y="5419278"/>
            <a:ext cx="9525" cy="4286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3400" y="419100"/>
            <a:ext cx="32060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975" b="1" dirty="0">
                <a:solidFill>
                  <a:srgbClr val="38BDF8"/>
                </a:solidFill>
                <a:latin typeface="Plus Jakarta Sans"/>
              </a:rPr>
              <a:t>Clases</a:t>
            </a:r>
            <a:endParaRPr sz="975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Clase Médico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1051470"/>
            <a:ext cx="11658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Representación del cuerpo facultativo, capacidad y reglas de consulta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6 /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160392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Representa al personal médico del hospital.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2543472"/>
            <a:ext cx="507325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Se registra en el sistema y puede recibir hasta 10 pacientes de su especialidad.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3663999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Solo atiende a un paciente a la vez en consulta.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4603551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Puede pasar al paciente de consulta a tratamiento.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5543103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Muestra su lista de pacientes ordenada.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4623A5F1-5D81-5982-5232-B1C52B698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617" y="1730424"/>
            <a:ext cx="4777608" cy="39179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06728" y="1480095"/>
            <a:ext cx="5451871" cy="4368254"/>
          </a:xfrm>
          <a:prstGeom prst="roundRect">
            <a:avLst>
              <a:gd name="adj" fmla="val 3488"/>
            </a:avLst>
          </a:prstGeom>
          <a:solidFill>
            <a:srgbClr val="0D1322"/>
          </a:solidFill>
          <a:ln w="19050">
            <a:solidFill>
              <a:srgbClr val="185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480095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2720280"/>
            <a:ext cx="5368528" cy="647700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4141440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5381625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19372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14800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1480095"/>
            <a:ext cx="38100" cy="4667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2403" y="1480095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335845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2720280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2720280"/>
            <a:ext cx="38100" cy="6477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2403" y="2720280"/>
            <a:ext cx="9525" cy="647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4598640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141440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4141440"/>
            <a:ext cx="38100" cy="4667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2403" y="4141440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583882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538162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3400" y="5381625"/>
            <a:ext cx="38100" cy="4667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92403" y="5381625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3400" y="419100"/>
            <a:ext cx="32060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975" b="1" i="0" u="none" dirty="0">
                <a:solidFill>
                  <a:srgbClr val="38BDF8"/>
                </a:solidFill>
                <a:latin typeface="Plus Jakarta Sans"/>
              </a:rPr>
              <a:t>Clases</a:t>
            </a:r>
            <a:endParaRPr sz="975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Clase Enfermero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1051470"/>
            <a:ext cx="11658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Gestión de tratamientos simultáneos y atención especializada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7 /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162297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Representa al personal de enfermería.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2863155"/>
            <a:ext cx="507325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Se registra en el sistema y puede cuidar hasta 3 pacientes de su especialidad al mismo tiempo.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284315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Da tratamiento a los pacientes que ya le fueron asignados.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552450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Muestra su lista de pacientes ordenada.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4A1F3FC0-22B4-8D8A-FDE0-EDD799005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239" y="1830786"/>
            <a:ext cx="4490362" cy="38175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06728" y="1480095"/>
            <a:ext cx="5451871" cy="4368254"/>
          </a:xfrm>
          <a:prstGeom prst="roundRect">
            <a:avLst>
              <a:gd name="adj" fmla="val 3488"/>
            </a:avLst>
          </a:prstGeom>
          <a:solidFill>
            <a:srgbClr val="0D1322"/>
          </a:solidFill>
          <a:ln w="19050">
            <a:solidFill>
              <a:srgbClr val="5E3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480095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2780555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4081016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5381476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19372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14800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1480095"/>
            <a:ext cx="38100" cy="466725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2403" y="1480095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323775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278055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2780555"/>
            <a:ext cx="38100" cy="466725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2403" y="2780555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453821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08101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4081016"/>
            <a:ext cx="38100" cy="466725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2403" y="4081016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583867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538147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3400" y="5381476"/>
            <a:ext cx="38100" cy="466725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92403" y="5381476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3400" y="419100"/>
            <a:ext cx="32060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975" b="1" i="0" u="none" dirty="0">
                <a:solidFill>
                  <a:srgbClr val="38BDF8"/>
                </a:solidFill>
                <a:latin typeface="Plus Jakarta Sans"/>
              </a:rPr>
              <a:t>Clases</a:t>
            </a:r>
            <a:endParaRPr sz="975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Clase Paciente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1051470"/>
            <a:ext cx="11658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Registro de requerimientos clínicos y máquinas de estados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8 /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162297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Representa a cada persona que llega al hospital.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292343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Guarda su nombre y la especialidad que necesita.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223891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Puede solicitar consulta.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5524351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Siempre se puede saber si está en consulta o en tratamiento.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74510FE0-F593-58C0-DE5A-9F01F097D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810" y="1718066"/>
            <a:ext cx="4608022" cy="39171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D13C1CB-7B8D-46EA-89E8-15EF2B664F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55" r="-17393"/>
          <a:stretch/>
        </p:blipFill>
        <p:spPr>
          <a:xfrm>
            <a:off x="0" y="0"/>
            <a:ext cx="14605972" cy="6858000"/>
          </a:xfrm>
          <a:prstGeom prst="rect">
            <a:avLst/>
          </a:prstGeom>
        </p:spPr>
      </p:pic>
      <p:sp>
        <p:nvSpPr>
          <p:cNvPr id="4" name="TextBox 29">
            <a:extLst>
              <a:ext uri="{FF2B5EF4-FFF2-40B4-BE49-F238E27FC236}">
                <a16:creationId xmlns:a16="http://schemas.microsoft.com/office/drawing/2014/main" id="{8478D995-3FDE-4301-AC66-12AED92B7D57}"/>
              </a:ext>
            </a:extLst>
          </p:cNvPr>
          <p:cNvSpPr txBox="1"/>
          <p:nvPr/>
        </p:nvSpPr>
        <p:spPr>
          <a:xfrm>
            <a:off x="533400" y="647700"/>
            <a:ext cx="8580875" cy="3440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s-ES" sz="2400" b="1" dirty="0">
                <a:solidFill>
                  <a:srgbClr val="FFFFFF"/>
                </a:solidFill>
                <a:latin typeface="Plus Jakarta Sans"/>
              </a:rPr>
              <a:t>Diagrama de clases UML general del Sistema Hospitalario.</a:t>
            </a:r>
            <a:endParaRPr sz="24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867CB4AD-41A1-4D9F-9263-A6A5ECEA3B07}"/>
              </a:ext>
            </a:extLst>
          </p:cNvPr>
          <p:cNvSpPr/>
          <p:nvPr/>
        </p:nvSpPr>
        <p:spPr>
          <a:xfrm>
            <a:off x="669956" y="1480095"/>
            <a:ext cx="10988643" cy="4368254"/>
          </a:xfrm>
          <a:prstGeom prst="roundRect">
            <a:avLst>
              <a:gd name="adj" fmla="val 3488"/>
            </a:avLst>
          </a:prstGeom>
          <a:solidFill>
            <a:srgbClr val="0D1322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9B95088-4EF6-D46C-F68D-48A744E51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302" y="1681787"/>
            <a:ext cx="7097949" cy="396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7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98858" y="1572358"/>
            <a:ext cx="11125200" cy="4430641"/>
          </a:xfrm>
          <a:prstGeom prst="roundRect">
            <a:avLst>
              <a:gd name="adj" fmla="val 11666"/>
            </a:avLst>
          </a:prstGeom>
          <a:solidFill>
            <a:srgbClr val="0D1322"/>
          </a:solidFill>
          <a:ln w="19050">
            <a:solidFill>
              <a:srgbClr val="19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angle 4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VALIDACIÓN EN CONSOLA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Resultados y pruebas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9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1179926"/>
            <a:ext cx="325249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SE PROBÓ EL SISTEMA COMPLETO EN CONSOLA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8094E05B-99C7-4ABD-8947-BC91F6B0B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98162"/>
            <a:ext cx="3042924" cy="76648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61B4560F-DC35-413E-A100-208024C8B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9" y="3489536"/>
            <a:ext cx="3252493" cy="1753518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EACB1E72-9321-4701-A066-7D26CD06EBA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811"/>
          <a:stretch/>
        </p:blipFill>
        <p:spPr>
          <a:xfrm>
            <a:off x="4293887" y="2103286"/>
            <a:ext cx="3361087" cy="3231422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46754385-CB5F-4150-B4C4-FF6C298FD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027" y="2103286"/>
            <a:ext cx="3258347" cy="950524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22B29A30-C51A-4FAF-8BBB-343D1A2525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3027" y="3620074"/>
            <a:ext cx="3252493" cy="1462912"/>
          </a:xfrm>
          <a:prstGeom prst="rect">
            <a:avLst/>
          </a:prstGeom>
        </p:spPr>
      </p:pic>
      <p:sp>
        <p:nvSpPr>
          <p:cNvPr id="41" name="TextBox 19">
            <a:extLst>
              <a:ext uri="{FF2B5EF4-FFF2-40B4-BE49-F238E27FC236}">
                <a16:creationId xmlns:a16="http://schemas.microsoft.com/office/drawing/2014/main" id="{F88707D2-FE4C-4C43-94BD-F5BFCA4F4903}"/>
              </a:ext>
            </a:extLst>
          </p:cNvPr>
          <p:cNvSpPr txBox="1"/>
          <p:nvPr/>
        </p:nvSpPr>
        <p:spPr>
          <a:xfrm>
            <a:off x="533398" y="2865623"/>
            <a:ext cx="213680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1050" b="1" i="0" u="none" dirty="0">
                <a:solidFill>
                  <a:srgbClr val="38BDF8"/>
                </a:solidFill>
                <a:latin typeface="Plus Jakarta Sans"/>
              </a:rPr>
              <a:t>Prueba de error de cadena vacía.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8E39E62A-FE12-46C7-A530-55305A0DD246}"/>
              </a:ext>
            </a:extLst>
          </p:cNvPr>
          <p:cNvSpPr txBox="1"/>
          <p:nvPr/>
        </p:nvSpPr>
        <p:spPr>
          <a:xfrm>
            <a:off x="533400" y="5253916"/>
            <a:ext cx="238206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1050" b="1" i="0" u="none" dirty="0">
                <a:solidFill>
                  <a:srgbClr val="38BDF8"/>
                </a:solidFill>
                <a:latin typeface="Plus Jakarta Sans"/>
              </a:rPr>
              <a:t>Contadores y registros del hospital.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B55466F3-3FB9-436C-8584-74224509418B}"/>
              </a:ext>
            </a:extLst>
          </p:cNvPr>
          <p:cNvSpPr txBox="1"/>
          <p:nvPr/>
        </p:nvSpPr>
        <p:spPr>
          <a:xfrm>
            <a:off x="4293887" y="5356617"/>
            <a:ext cx="165269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050" b="1" i="0" u="none" dirty="0">
                <a:solidFill>
                  <a:srgbClr val="38BDF8"/>
                </a:solidFill>
                <a:latin typeface="Plus Jakarta Sans"/>
              </a:rPr>
              <a:t>Asignación de pacientes.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E91500A3-A033-4CAA-96D9-793F9B240091}"/>
              </a:ext>
            </a:extLst>
          </p:cNvPr>
          <p:cNvSpPr txBox="1"/>
          <p:nvPr/>
        </p:nvSpPr>
        <p:spPr>
          <a:xfrm>
            <a:off x="7963027" y="3011289"/>
            <a:ext cx="156613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050" b="1" i="0" u="none" dirty="0">
                <a:solidFill>
                  <a:srgbClr val="38BDF8"/>
                </a:solidFill>
                <a:latin typeface="Plus Jakarta Sans"/>
              </a:rPr>
              <a:t>Control de flujo clínico.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45" name="TextBox 19">
            <a:extLst>
              <a:ext uri="{FF2B5EF4-FFF2-40B4-BE49-F238E27FC236}">
                <a16:creationId xmlns:a16="http://schemas.microsoft.com/office/drawing/2014/main" id="{D682C56B-CD7E-4AAE-8D7C-7FD71E2117E7}"/>
              </a:ext>
            </a:extLst>
          </p:cNvPr>
          <p:cNvSpPr txBox="1"/>
          <p:nvPr/>
        </p:nvSpPr>
        <p:spPr>
          <a:xfrm>
            <a:off x="7963027" y="5160837"/>
            <a:ext cx="261289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050" b="1" i="0" u="none" dirty="0">
                <a:solidFill>
                  <a:srgbClr val="38BDF8"/>
                </a:solidFill>
                <a:latin typeface="Plus Jakarta Sans"/>
              </a:rPr>
              <a:t>Ordenamiento alfabético descendente.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917501"/>
            <a:ext cx="11125200" cy="3493293"/>
          </a:xfrm>
          <a:prstGeom prst="roundRect">
            <a:avLst>
              <a:gd name="adj" fmla="val 436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15650" y="6257925"/>
            <a:ext cx="7429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23925" y="4601170"/>
            <a:ext cx="6238428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925" y="4601170"/>
            <a:ext cx="62384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308026"/>
            <a:ext cx="495300" cy="495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87" y="2450901"/>
            <a:ext cx="180975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BALANCE DE LA ETAPA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Conclusión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0900" y="6296025"/>
            <a:ext cx="647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10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3031926"/>
            <a:ext cx="10241380" cy="639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Con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estas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cuatro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clases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logramos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representar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, de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manera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sencilla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,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el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funcionamiento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básico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de un hospital,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respetando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las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reglas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de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asignación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y control del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estado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de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cada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paciente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4801195"/>
            <a:ext cx="77980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Esta base queda lista para crecer en la siguiente etapa del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618</Words>
  <Application>Microsoft Office PowerPoint</Application>
  <PresentationFormat>Panorámica</PresentationFormat>
  <Paragraphs>99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Calibri</vt:lpstr>
      <vt:lpstr>Plus Jakarta Sans</vt:lpstr>
      <vt:lpstr>JetBrains Mono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migue</dc:creator>
  <cp:keywords/>
  <dc:description>generated using python-pptx</dc:description>
  <cp:lastModifiedBy>Diego Alonso Navarrete</cp:lastModifiedBy>
  <cp:revision>7</cp:revision>
  <dcterms:created xsi:type="dcterms:W3CDTF">2013-01-27T09:14:16Z</dcterms:created>
  <dcterms:modified xsi:type="dcterms:W3CDTF">2026-09-28T19:59:49Z</dcterms:modified>
  <cp:category/>
</cp:coreProperties>
</file>